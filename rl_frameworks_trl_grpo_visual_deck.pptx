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2d68e0a9584db1" /><Relationship Type="http://schemas.openxmlformats.org/officeDocument/2006/relationships/extended-properties" Target="/docProps/app.xml" Id="Rc7221a68d1e245c7" /><Relationship Type="http://schemas.openxmlformats.org/officeDocument/2006/relationships/officeDocument" Target="/ppt/presentation.xml" Id="Ra514c5d2319f47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e447ddc5f7489f"/>
  </p:sldMasterIdLst>
  <p:notesMasterIdLst>
    <p:notesMasterId xmlns:r="http://schemas.openxmlformats.org/officeDocument/2006/relationships" r:id="R981bd17147a349d5"/>
  </p:notesMasterIdLst>
  <p:sldIdLst>
    <p:sldId xmlns:r="http://schemas.openxmlformats.org/officeDocument/2006/relationships" id="256" r:id="R6c60306989c64e87"/>
    <p:sldId xmlns:r="http://schemas.openxmlformats.org/officeDocument/2006/relationships" id="257" r:id="R09f947ab56e843f3"/>
    <p:sldId xmlns:r="http://schemas.openxmlformats.org/officeDocument/2006/relationships" id="258" r:id="Rc1e870c784d74141"/>
    <p:sldId xmlns:r="http://schemas.openxmlformats.org/officeDocument/2006/relationships" id="259" r:id="Rda812e32e5124e5b"/>
    <p:sldId xmlns:r="http://schemas.openxmlformats.org/officeDocument/2006/relationships" id="260" r:id="Rcdc8de101c4e41ce"/>
    <p:sldId xmlns:r="http://schemas.openxmlformats.org/officeDocument/2006/relationships" id="261" r:id="R19d39a59cdcf4f99"/>
    <p:sldId xmlns:r="http://schemas.openxmlformats.org/officeDocument/2006/relationships" id="262" r:id="Reca0a140c7b840c9"/>
    <p:sldId xmlns:r="http://schemas.openxmlformats.org/officeDocument/2006/relationships" id="263" r:id="Ref6c23af5b7546be"/>
    <p:sldId xmlns:r="http://schemas.openxmlformats.org/officeDocument/2006/relationships" id="264" r:id="R1cfcffb279244eef"/>
    <p:sldId xmlns:r="http://schemas.openxmlformats.org/officeDocument/2006/relationships" id="265" r:id="Re12592bb4e47448c"/>
    <p:sldId xmlns:r="http://schemas.openxmlformats.org/officeDocument/2006/relationships" id="266" r:id="R4f7e85aa962c425f"/>
    <p:sldId xmlns:r="http://schemas.openxmlformats.org/officeDocument/2006/relationships" id="267" r:id="R06dfb3235f0344c9"/>
    <p:sldId xmlns:r="http://schemas.openxmlformats.org/officeDocument/2006/relationships" id="268" r:id="R694becd99bc842b4"/>
    <p:sldId xmlns:r="http://schemas.openxmlformats.org/officeDocument/2006/relationships" id="269" r:id="Rcc3ad4f4a02b4c08"/>
    <p:sldId xmlns:r="http://schemas.openxmlformats.org/officeDocument/2006/relationships" id="270" r:id="Ra429f21f9b1a404c"/>
    <p:sldId xmlns:r="http://schemas.openxmlformats.org/officeDocument/2006/relationships" id="271" r:id="R7647a063075a45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cf01beac99475d" /><Relationship Type="http://schemas.openxmlformats.org/officeDocument/2006/relationships/slideMaster" Target="/ppt/slideMasters/slideMaster1.xml" Id="R96e447ddc5f7489f" /><Relationship Type="http://schemas.openxmlformats.org/officeDocument/2006/relationships/notesMaster" Target="/ppt/notesMasters/notesMaster1.xml" Id="R981bd17147a349d5" /><Relationship Type="http://schemas.openxmlformats.org/officeDocument/2006/relationships/presProps" Target="/ppt/presProps.xml" Id="Rd3d819de2062480c" /><Relationship Type="http://schemas.openxmlformats.org/officeDocument/2006/relationships/viewProps" Target="/ppt/viewProps.xml" Id="Rcf26d59fa1764432" /><Relationship Type="http://schemas.openxmlformats.org/officeDocument/2006/relationships/tableStyles" Target="/ppt/tableStyles.xml" Id="R8d58951dfc2c47dd" /><Relationship Type="http://schemas.openxmlformats.org/officeDocument/2006/relationships/slide" Target="/ppt/slides/slide1.xml" Id="R6c60306989c64e87" /><Relationship Type="http://schemas.openxmlformats.org/officeDocument/2006/relationships/slide" Target="/ppt/slides/slide2.xml" Id="R09f947ab56e843f3" /><Relationship Type="http://schemas.openxmlformats.org/officeDocument/2006/relationships/slide" Target="/ppt/slides/slide3.xml" Id="Rc1e870c784d74141" /><Relationship Type="http://schemas.openxmlformats.org/officeDocument/2006/relationships/slide" Target="/ppt/slides/slide4.xml" Id="Rda812e32e5124e5b" /><Relationship Type="http://schemas.openxmlformats.org/officeDocument/2006/relationships/slide" Target="/ppt/slides/slide5.xml" Id="Rcdc8de101c4e41ce" /><Relationship Type="http://schemas.openxmlformats.org/officeDocument/2006/relationships/slide" Target="/ppt/slides/slide6.xml" Id="R19d39a59cdcf4f99" /><Relationship Type="http://schemas.openxmlformats.org/officeDocument/2006/relationships/slide" Target="/ppt/slides/slide7.xml" Id="Reca0a140c7b840c9" /><Relationship Type="http://schemas.openxmlformats.org/officeDocument/2006/relationships/slide" Target="/ppt/slides/slide8.xml" Id="Ref6c23af5b7546be" /><Relationship Type="http://schemas.openxmlformats.org/officeDocument/2006/relationships/slide" Target="/ppt/slides/slide9.xml" Id="R1cfcffb279244eef" /><Relationship Type="http://schemas.openxmlformats.org/officeDocument/2006/relationships/slide" Target="/ppt/slides/slide10.xml" Id="Re12592bb4e47448c" /><Relationship Type="http://schemas.openxmlformats.org/officeDocument/2006/relationships/slide" Target="/ppt/slides/slide11.xml" Id="R4f7e85aa962c425f" /><Relationship Type="http://schemas.openxmlformats.org/officeDocument/2006/relationships/slide" Target="/ppt/slides/slide12.xml" Id="R06dfb3235f0344c9" /><Relationship Type="http://schemas.openxmlformats.org/officeDocument/2006/relationships/slide" Target="/ppt/slides/slide13.xml" Id="R694becd99bc842b4" /><Relationship Type="http://schemas.openxmlformats.org/officeDocument/2006/relationships/slide" Target="/ppt/slides/slide14.xml" Id="Rcc3ad4f4a02b4c08" /><Relationship Type="http://schemas.openxmlformats.org/officeDocument/2006/relationships/slide" Target="/ppt/slides/slide15.xml" Id="Ra429f21f9b1a404c" /><Relationship Type="http://schemas.openxmlformats.org/officeDocument/2006/relationships/slide" Target="/ppt/slides/slide16.xml" Id="R7647a063075a45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20db1fb3c54e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7849ac0be04d9e" /><Relationship Type="http://schemas.openxmlformats.org/officeDocument/2006/relationships/notesMaster" Target="/ppt/notesMasters/notesMaster1.xml" Id="R1a7f6a4681db46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b37f21e8fa4fb2" /><Relationship Type="http://schemas.openxmlformats.org/officeDocument/2006/relationships/notesMaster" Target="/ppt/notesMasters/notesMaster1.xml" Id="Re1edb2696774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62410ad3854d6e" /><Relationship Type="http://schemas.openxmlformats.org/officeDocument/2006/relationships/notesMaster" Target="/ppt/notesMasters/notesMaster1.xml" Id="R4a6587327afa4a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0aba01b5474922" /><Relationship Type="http://schemas.openxmlformats.org/officeDocument/2006/relationships/notesMaster" Target="/ppt/notesMasters/notesMaster1.xml" Id="R759dc5ac932043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7ff02819644d5c" /><Relationship Type="http://schemas.openxmlformats.org/officeDocument/2006/relationships/notesMaster" Target="/ppt/notesMasters/notesMaster1.xml" Id="R82e6e286a6ca43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db047e71c9478b" /><Relationship Type="http://schemas.openxmlformats.org/officeDocument/2006/relationships/notesMaster" Target="/ppt/notesMasters/notesMaster1.xml" Id="Re6b3ee8ef8a347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57fd890236433d" /><Relationship Type="http://schemas.openxmlformats.org/officeDocument/2006/relationships/notesMaster" Target="/ppt/notesMasters/notesMaster1.xml" Id="R9f82678f52c7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21b961fafa455f" /><Relationship Type="http://schemas.openxmlformats.org/officeDocument/2006/relationships/notesMaster" Target="/ppt/notesMasters/notesMaster1.xml" Id="Rafd29b2f1a0f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a9cc72266e4c07" /><Relationship Type="http://schemas.openxmlformats.org/officeDocument/2006/relationships/notesMaster" Target="/ppt/notesMasters/notesMaster1.xml" Id="R82c07c6a89cc4b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e5bdbecec547b8" /><Relationship Type="http://schemas.openxmlformats.org/officeDocument/2006/relationships/notesMaster" Target="/ppt/notesMasters/notesMaster1.xml" Id="R7ccd96933b8a4e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023d54cd9a4506" /><Relationship Type="http://schemas.openxmlformats.org/officeDocument/2006/relationships/notesMaster" Target="/ppt/notesMasters/notesMaster1.xml" Id="R3688a27bc13346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c9bf3f17cb401a" /><Relationship Type="http://schemas.openxmlformats.org/officeDocument/2006/relationships/notesMaster" Target="/ppt/notesMasters/notesMaster1.xml" Id="Rb9851b7542a146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2ae969827c479f" /><Relationship Type="http://schemas.openxmlformats.org/officeDocument/2006/relationships/notesMaster" Target="/ppt/notesMasters/notesMaster1.xml" Id="R8c33877a8d4d49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0ecce1acd44825" /><Relationship Type="http://schemas.openxmlformats.org/officeDocument/2006/relationships/notesMaster" Target="/ppt/notesMasters/notesMaster1.xml" Id="R0e0fedc0bc6d47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4225a8df094e25" /><Relationship Type="http://schemas.openxmlformats.org/officeDocument/2006/relationships/notesMaster" Target="/ppt/notesMasters/notesMaster1.xml" Id="R7c8f0ff4095548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b9b9f57e614d55" /><Relationship Type="http://schemas.openxmlformats.org/officeDocument/2006/relationships/notesMaster" Target="/ppt/notesMasters/notesMaster1.xml" Id="Rb7b654701d3b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4f212fb5c4a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2691a4e74a4331" /><Relationship Type="http://schemas.openxmlformats.org/officeDocument/2006/relationships/slideLayout" Target="/ppt/slideLayouts/slideLayout1.xml" Id="R55708d87e18e41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708d87e18e41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1d26705524e2b" /><Relationship Type="http://schemas.openxmlformats.org/officeDocument/2006/relationships/image" Target="/ppt/media/image.png" Id="Re86f887a40534d80" /><Relationship Type="http://schemas.openxmlformats.org/officeDocument/2006/relationships/image" Target="/ppt/media/image.svg" Id="R8004a0a5f6624f43" /><Relationship Type="http://schemas.openxmlformats.org/officeDocument/2006/relationships/notesSlide" Target="/ppt/notesSlides/notesSlide1.xml" Id="R427d2c32950b49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72604f7034b49" /><Relationship Type="http://schemas.openxmlformats.org/officeDocument/2006/relationships/notesSlide" Target="/ppt/notesSlides/notesSlide2.xml" Id="R462f2524f0374a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082f0033484e" /><Relationship Type="http://schemas.openxmlformats.org/officeDocument/2006/relationships/image" Target="/ppt/media/image2.png" Id="Rcc024373867c45c7" /><Relationship Type="http://schemas.openxmlformats.org/officeDocument/2006/relationships/image" Target="/ppt/media/image2.svg" Id="R748e14b9c3ae4328" /><Relationship Type="http://schemas.openxmlformats.org/officeDocument/2006/relationships/notesSlide" Target="/ppt/notesSlides/notesSlide3.xml" Id="Raaf6343068d940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ca686dc134f28" /><Relationship Type="http://schemas.openxmlformats.org/officeDocument/2006/relationships/image" Target="/ppt/media/image3.png" Id="Rdaaaf4b1f63f4fa7" /><Relationship Type="http://schemas.openxmlformats.org/officeDocument/2006/relationships/image" Target="/ppt/media/image3.svg" Id="R275035f1ecfc4e22" /><Relationship Type="http://schemas.openxmlformats.org/officeDocument/2006/relationships/image" Target="/ppt/media/image4.png" Id="R9a42588e9d1c4e42" /><Relationship Type="http://schemas.openxmlformats.org/officeDocument/2006/relationships/image" Target="/ppt/media/image4.svg" Id="R0007ce57c28249ad" /><Relationship Type="http://schemas.openxmlformats.org/officeDocument/2006/relationships/image" Target="/ppt/media/image5.png" Id="R082891c7967c4780" /><Relationship Type="http://schemas.openxmlformats.org/officeDocument/2006/relationships/image" Target="/ppt/media/image5.svg" Id="R4bec2250dfdb406c" /><Relationship Type="http://schemas.openxmlformats.org/officeDocument/2006/relationships/notesSlide" Target="/ppt/notesSlides/notesSlide4.xml" Id="R4f5d9cb7222249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60fa6cef14708" /><Relationship Type="http://schemas.openxmlformats.org/officeDocument/2006/relationships/notesSlide" Target="/ppt/notesSlides/notesSlide5.xml" Id="Rbe7802ca4c844a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e78043a3744c8" /><Relationship Type="http://schemas.openxmlformats.org/officeDocument/2006/relationships/notesSlide" Target="/ppt/notesSlides/notesSlide6.xml" Id="Rb07d4d2ad39944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3823fadb444e0" /><Relationship Type="http://schemas.openxmlformats.org/officeDocument/2006/relationships/notesSlide" Target="/ppt/notesSlides/notesSlide7.xml" Id="R21af14f0592e42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0c13e97284a63" /><Relationship Type="http://schemas.openxmlformats.org/officeDocument/2006/relationships/notesSlide" Target="/ppt/notesSlides/notesSlide8.xml" Id="R0485f3cb3d6d46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44a46919b4301" /><Relationship Type="http://schemas.openxmlformats.org/officeDocument/2006/relationships/notesSlide" Target="/ppt/notesSlides/notesSlide9.xml" Id="R6687252593f441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5632a3b3843ac" /><Relationship Type="http://schemas.openxmlformats.org/officeDocument/2006/relationships/notesSlide" Target="/ppt/notesSlides/notesSlide10.xml" Id="R2c31e5f87bb84a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fa191056a41c1" /><Relationship Type="http://schemas.openxmlformats.org/officeDocument/2006/relationships/image" Target="/ppt/media/image6.png" Id="R8b535a42a84f40c9" /><Relationship Type="http://schemas.openxmlformats.org/officeDocument/2006/relationships/image" Target="/ppt/media/image6.svg" Id="R6c9021c951f142e9" /><Relationship Type="http://schemas.openxmlformats.org/officeDocument/2006/relationships/notesSlide" Target="/ppt/notesSlides/notesSlide11.xml" Id="R2366cf63da2943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e27430d744c45" /><Relationship Type="http://schemas.openxmlformats.org/officeDocument/2006/relationships/image" Target="/ppt/media/image7.png" Id="Raea76f769be546a0" /><Relationship Type="http://schemas.openxmlformats.org/officeDocument/2006/relationships/image" Target="/ppt/media/image7.svg" Id="R7406d83d0e4b40b1" /><Relationship Type="http://schemas.openxmlformats.org/officeDocument/2006/relationships/image" Target="/ppt/media/image8.png" Id="Rc45a18e8d8cb4d91" /><Relationship Type="http://schemas.openxmlformats.org/officeDocument/2006/relationships/image" Target="/ppt/media/image8.svg" Id="R42ff47bdd0df44d3" /><Relationship Type="http://schemas.openxmlformats.org/officeDocument/2006/relationships/image" Target="/ppt/media/image9.png" Id="Ra9ef8d8045354aef" /><Relationship Type="http://schemas.openxmlformats.org/officeDocument/2006/relationships/image" Target="/ppt/media/image9.svg" Id="Rd894d69e1e9c43dc" /><Relationship Type="http://schemas.openxmlformats.org/officeDocument/2006/relationships/image" Target="/ppt/media/image10.png" Id="Refd6267960be4538" /><Relationship Type="http://schemas.openxmlformats.org/officeDocument/2006/relationships/image" Target="/ppt/media/image10.svg" Id="Re3012d3af4b0432a" /><Relationship Type="http://schemas.openxmlformats.org/officeDocument/2006/relationships/notesSlide" Target="/ppt/notesSlides/notesSlide12.xml" Id="R7a891a5a681a46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92c9fa8ab4e34" /><Relationship Type="http://schemas.openxmlformats.org/officeDocument/2006/relationships/notesSlide" Target="/ppt/notesSlides/notesSlide13.xml" Id="R9c3b8aa3387141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97919047849aa" /><Relationship Type="http://schemas.openxmlformats.org/officeDocument/2006/relationships/notesSlide" Target="/ppt/notesSlides/notesSlide14.xml" Id="Rc1f26138d1d349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aeaeb821d430e" /><Relationship Type="http://schemas.openxmlformats.org/officeDocument/2006/relationships/notesSlide" Target="/ppt/notesSlides/notesSlide15.xml" Id="R05f8531b7d3b43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e599c3a074090" /><Relationship Type="http://schemas.openxmlformats.org/officeDocument/2006/relationships/image" Target="/ppt/media/image.jpeg" Id="R4af3864e18bb4878" /><Relationship Type="http://schemas.openxmlformats.org/officeDocument/2006/relationships/image" Target="/ppt/media/image2.jpeg" Id="R61d3d205c2e34ed9" /><Relationship Type="http://schemas.openxmlformats.org/officeDocument/2006/relationships/image" Target="/ppt/media/image3.jpeg" Id="R15c9e89cbbf845bc" /><Relationship Type="http://schemas.openxmlformats.org/officeDocument/2006/relationships/notesSlide" Target="/ppt/notesSlides/notesSlide16.xml" Id="R2494eb99844a44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B0F91-4293-4A00-8A8C-F892C076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FBD79-62F0-4C4F-87CB-857AA74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E6647-BE05-4865-938C-1791592D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C4525-1197-47C5-8753-BDEE8145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VISUAL TEACHING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D6C0D-CB1B-4C1F-B235-D43016C0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90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From RL basics to TRL GRPO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9FB6F-B293-4A94-A7E9-EDA5E078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561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framework-by-framework learning path for agentic ML systems: vLLM, MCP, LangGraph-style agents, Agent Lightning, RULER/ART, TRL, GRPO, and Streamlit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7554E-27EF-49FF-B7C2-875BD6D5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C5234-2D4E-4D30-9FC7-23FBB5F5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002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4F7F9-4251-4C34-99CF-D06808E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954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E80CD-ED25-423C-A69B-596CBCB1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02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0A25C-66C3-46BE-B7BD-7DB9A9F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352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choose tool or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19159-9734-4077-B49B-534BA8AA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719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96DAE-4478-4045-AF01-C9929D7C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767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BEFB2-4BCA-4364-A140-FD211A60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719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ECE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20F7F-0058-4F17-819A-D53F50A0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767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F0F0C-AA67-44F2-956C-D6A094F9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14550"/>
            <a:ext cx="695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57930-98B9-4238-B41B-9F16A8B0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00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7607C-FFAA-4769-AB36-E324B68D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7175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54519-031B-4721-914E-7010EEF7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814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1B982-F3DE-4115-9D68-8F5D4207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91050"/>
            <a:ext cx="695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5707E-700D-4447-96FD-AE25D5D3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9841C6-F54C-487F-8F2D-E4407A29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38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8C009-DD94-4AD5-B725-572308FB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336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63FA3-9BF7-4670-8079-60232EA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146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D9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f887a40534d80">
            <a:extLst>
              <a:ext uri="{96DAC541-7B7A-43D3-8B79-37D633B846F1}">
                <asvg:svgBlip xmlns:asvg="http://schemas.microsoft.com/office/drawing/2016/SVG/main" r:embed="R8004a0a5f6624f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62975" y="27622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FFEDF-091A-4CE9-A190-82DEE46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3337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C304B-D284-4AC9-9CBE-C4176C38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533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31DC87-D91F-4826-854F-AD43EFAB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C2391-A8E2-4699-BBFC-03159C67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Learning goal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A36F2-CBAE-403C-B3B4-E6C04CC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9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By the end, the audience can explain how grouped agent rollouts become relative rewards, and how TRL GRPO turns that feedback into a deployable adapter.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33E59-EE4C-4650-889D-F445180D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9DA515-7044-430A-8C52-58E19BAA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81052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412D5A-CF90-4DFA-BDF8-C2EE2190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D4FC9-1BC3-430E-8C40-81B80DE9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RL 101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787B5-92FB-4821-A4B3-23D756C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Reinforcement learning is a feedback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F4822-22FF-4A6B-9D25-EF468E1B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model is not given the answer directly. It acts, observes a score, then shifts future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81260-9CC8-4969-8B95-DA4DBC99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6C064-265C-4C21-9620-0591FCF0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25F13-E158-4C48-A29B-980D2F44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524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task + tools +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96FEB-44B7-42C1-9129-2C0C2AFB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57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C2F02-0CE4-4F90-AFE9-EDD4F1E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6F541-4116-4E0F-894B-D7A7F2B1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24125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E1F2F-CA85-49C2-A07D-E0CD57AB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8EEA5-7DE1-45BE-8DB2-238D43E6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86075"/>
            <a:ext cx="1524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what the policy can see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0B6BF-0AD7-4313-9C07-7C4B9DAB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57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06A50-FDC4-4286-A3E2-45DDC2C6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AE15E-DDFE-49D7-AD02-2FCBD23E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56335-AC12-4F6E-9CAB-C85CCD36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1F794-4D1B-4459-994D-B482599F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86075"/>
            <a:ext cx="1524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token, tool call, or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6AA8E-0075-4084-8585-203BC6B9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57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DC9DD-97D8-4301-ABB5-2F082B5F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FEDA8-82DE-4C28-9CD0-20EC2A5C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24125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B7E65-D889-4938-BEB5-0791AF2F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035B4-E71F-4D3B-A25D-4109DD56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86075"/>
            <a:ext cx="1524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numeric 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4990B-AEA7-43C5-ADBE-C27CFBF9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57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23607-F334-42BA-8E1F-C8AD693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A0347-3828-467F-847C-3B7A77C9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24125"/>
            <a:ext cx="1790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ECE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313E8-57D5-4E5A-890A-5B6A45AF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Policy update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D1917-B609-4F23-8105-20D03878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86075"/>
            <a:ext cx="15240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make good actions likelier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8EE067-F9F5-4897-B206-C390389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4800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9F7DF1-2407-4F6C-BE1F-1E09A0B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17EE2-8C9D-41E8-BF6B-E8CD69E8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45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Simple example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1E988B-0B32-4840-BA87-9660AB42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robot chooses left or right. Left hits a wall: reward -1. Right reaches goal: reward +1. The policy increases probability of right next time.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6E703-316A-4419-9663-F33047C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4800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825187-A2B8-4696-B367-1DECB8C1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4C702-DB8B-42A2-B022-320B4070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445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LLM translation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3A7430-EA47-48A0-AD6F-984251E9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72050"/>
            <a:ext cx="4457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An LLM agent chooses whether to inspect schema, train GBM, log MLflow, or skip explainability. Reward tells it which workflow was better.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4B14FD-D0AA-4D23-80BE-4B78F996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C3C43C-C23D-4C81-83A4-9CE0BEBF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10272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4C2FB-3FC1-4FBE-8BC7-D6AAAB6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7092E-5502-4878-9361-4F73A169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AGENTIC RL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04917-72D9-43D0-B781-94A1B0C4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For agents, actions are workflow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28034-0BF5-4397-B4D6-F699D602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RL surface is not only next-token text; it is tool choice, sequencing, constraints, and evidence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371FB-8B41-400C-B67F-D03AC12B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68F29-45E5-49C2-9917-D86838EC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Classic LLM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C7061-E3AA-4341-BF3C-9E3D80BF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39243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Predict the next token in a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BD109-A1AA-4FAD-8496-29DB3629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19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BA9B5-C25B-4A63-B71B-34F29AB0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Agentic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483D0-7995-4C42-8E86-BE7370E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9243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Call postgres_get_dataset_schema, plan preprocessing, launch GBM benchmark, log artifacts, ask critic.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15A62-AD4E-47B3-B258-3400540F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A579A-9406-425F-8FC5-0C99F059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670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D163D-822D-409B-9B24-5352434F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191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96431-038D-4E05-AD85-5B4B509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BD740-4300-436A-A067-2F1B1B34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reward can teach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B16EF-5164-4A28-8548-817DB3B3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384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Prefer workflows that are accurate, reproducible, tool-safe, and explainable.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FD3E2-3F3C-4F72-B207-46601913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4095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24373867c45c7">
            <a:extLst>
              <a:ext uri="{96DAC541-7B7A-43D3-8B79-37D633B846F1}">
                <asvg:svgBlip xmlns:asvg="http://schemas.microsoft.com/office/drawing/2016/SVG/main" r:embed="R748e14b9c3ae43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53475" y="20955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B45C4-0DD5-44F4-AB54-3C8D8BFC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867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DCA5B-5B1F-4A6C-9621-15555025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337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A063B-7B9D-4A05-8F9B-37EC0BC6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241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Inspect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4991A-9104-481F-B6AE-1F390304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81350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1DD15-7FDE-4B83-A774-E315B84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623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47BA2-58E3-49B5-A1C3-4A83BE9E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051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ED2C8-0B11-45B8-935A-D2F094B7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718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18229-1A2F-4D5B-A03A-62BA4899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Pick model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CAC771-F53F-41DC-AACE-1314FF94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19500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C375F-4359-4CF5-A310-4A3BCB85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004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22CF15-464D-4161-91A4-8B4C255B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743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B7886-E232-44BD-8085-E6F38144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8100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AF6068-E31C-40C8-8C32-327EB555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004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Execute sandbox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12788-9C76-41EA-B430-3FB5843D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57650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C8B7F2-90A8-49F8-9125-63CCA7F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386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914810-EF8F-405A-81E8-9137E1D6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81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4D0339-73C6-4925-8F00-9109720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481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29472-3230-411F-91B1-D750D0C4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86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Log + explain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A92EBA-A08D-4136-B175-3261A2E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60118A-EEEB-4C26-9A21-ABC404F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7849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6861C-8F03-4255-B4F9-2133DBF7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9FB21-C4A7-4D5E-B0B6-FED0E63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VLLM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123B4-4FBA-4270-BF7D-A084EC9A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Hosting a model is not the same as improving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D7951-8892-4B4B-9120-E596467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vLLM gives fast inference and OpenAI-compatible endpoints. RL tells the policy which behaviors should become more likely.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1D097-2569-4CD6-895E-3DDD78B0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19ABF-F545-47E5-8554-4D511490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8C311-93A6-4376-BC72-02CA91B4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65505-E86C-4514-BB0F-8ED899B5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9010A-5786-445A-9FB6-2ECE5307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4ADFE-711E-46D9-B7E6-EE50D227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af4b1f63f4fa7">
            <a:extLst>
              <a:ext uri="{96DAC541-7B7A-43D3-8B79-37D633B846F1}">
                <asvg:svgBlip xmlns:asvg="http://schemas.microsoft.com/office/drawing/2016/SVG/main" r:embed="R275035f1ecfc4e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324100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2588e9d1c4e42">
            <a:extLst>
              <a:ext uri="{96DAC541-7B7A-43D3-8B79-37D633B846F1}">
                <asvg:svgBlip xmlns:asvg="http://schemas.microsoft.com/office/drawing/2016/SVG/main" r:embed="R0007ce57c28249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05350" y="2324100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891c7967c4780">
            <a:extLst>
              <a:ext uri="{96DAC541-7B7A-43D3-8B79-37D633B846F1}">
                <asvg:svgBlip xmlns:asvg="http://schemas.microsoft.com/office/drawing/2016/SVG/main" r:embed="R4bec2250dfdb40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15350" y="23241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828A4-CA96-46BA-8B81-0F2733B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 model on vLLM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D8217-5768-4F2C-9F91-BB117D09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Qwen responds to prompts and tool instructions.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B1D7D-8941-45CF-847F-CC6D0112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686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62D9F-D8C3-470D-8401-E8EE412B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240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Useful: fast serving, batching, endpoint parity.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6256B-7A62-4519-B527-9FE099F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290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B1F49-9EC6-43CB-82B3-A8A4AE87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5E532-AA1A-4513-911F-22AB43F9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 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2A16C-AE2D-4056-8A4C-2644CC3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system wraps responses into tool calls and trajectories.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42A2E-707F-41A1-9C75-B73C57CB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95750"/>
            <a:ext cx="2686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4B96B8-9CD7-4E09-8094-55D4AD26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29100"/>
            <a:ext cx="240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Useful: converts text decisions into auditable steps.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FCDD4-83D0-45F4-AE14-56278C43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D75CC-EA43-4367-9E30-7F05DC2B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D5410-76F7-4259-A988-ECF25638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 RL feedback yet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9E547-DA8A-4649-AA67-B0E38E2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647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model can act, but the project-specific workflow is not optimized.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484EE-8A1A-4ACA-A291-B01EA6FD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686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8"/>
          </a:solidFill>
          <a:ln xmlns:a="http://schemas.openxmlformats.org/drawingml/2006/main" w="9525">
            <a:solidFill>
              <a:srgbClr val="FFE4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0C7CA-6AB1-42C6-9D0F-C1C9E1BE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240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Risk: missing MLflow, weak sequencing, raw-row violations.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C2818C-07BC-47F4-9511-83593E11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864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2AEA5-5033-41E9-8034-D196187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34025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DEMO CONTRAST: baseline endpoint vs tuned endpoint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84DC63-7559-45F4-A9F0-4699441B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D2EE9D-E0CD-4BB8-9785-B986532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5181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C9DD1-92A9-4F29-AEEE-B4EF3059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E1969-5AC5-4EA8-BB39-A21FB931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SFT CONTRAST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E44F7-B3E3-4816-9FF5-FD5BB7F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SFT imitates answers; GRPO optimizes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9DB0F-50E2-4043-A1B3-126F31D2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This project's current Track B path is TRL GRPO. SFT is shown here as a useful contrast, not the default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E2303-5FD0-425A-B2B5-46BD949E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00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CBE09-BF2F-421E-BED2-B2595DBA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D3AC5-35C9-4D8B-8924-FFBBB068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8597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Training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7F4CC-E281-4E64-8919-3ED28B17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8597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Loss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3EC0D-314A-4C1E-94EE-CCF674DD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85975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teaches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BE922-DF82-45EA-8464-BAC405C2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1000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5F066-A4BC-4C94-9E2F-A3AE9FE1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QLoRA SFT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24EA9-B59F-4735-987B-880876A1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prompt -&gt; best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6F22D-01F7-4A60-B2C5-B461203E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token cross entropy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3E6D5-0DD3-46E4-9650-06AE826F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imitate known good completions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B195C-9A46-47A6-AE0C-3AFCC1C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000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F1747-D9AA-4320-878F-383672C3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TRL GRPO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39A4C-1AFA-4D0F-8652-3C8B2D8E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8132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task -&gt; N rollouts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8CE22-9BB7-40E1-93E9-F7CE9CDD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8132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relative reward advantage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78EB1-060D-453F-862A-07DB9325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81325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prefer better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9FE45-C41D-4B66-9185-A8964E55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1000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8660D-48D7-439E-8007-FDEF7B07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58D4F-872A-4194-95AC-4A0702D8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chosen vs rejected 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BCE713-72DE-4A31-AEDE-D3A6EFD1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29000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preference objective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CD98D-38F2-4135-984D-C0BD6BDE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follow pairwise preferences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1CE34-2F29-46B5-BBE5-B62616C4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00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92D95-79F3-4659-A33D-B05FFBB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0CBF1-C84B-477F-975E-00B57AA5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7667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rollouts + reward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181109-5FBF-47AC-B467-7DDB92E8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76675"/>
            <a:ext cx="270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policy ratio + value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A55F31-E255-43B2-9A7D-3F96A37B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online RL with value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98F400-A931-420D-808B-CCD8013C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610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6DC66F-DD66-477C-9E82-138D943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34EE9-5776-4512-9D59-7530D2E0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SFT demo 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717792-3D07-4546-B72D-9EFC090C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426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 can show the model examples of the ideal answer style, so it learns to imitate that format.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A32711-6B92-4B35-9CB4-9542F10A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52950"/>
            <a:ext cx="4610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09F994-FC00-45C7-BADF-DFB149E0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529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CF6730-722E-4413-9E3A-C90B5735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244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GRPO demo 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6F393B-A9EC-471B-9B5A-CA6086FF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05400"/>
            <a:ext cx="426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 can let the agent try multiple workflows, score them, then train it to choose the higher-reward workflow next time.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8BC410-2193-42BD-8A73-F0DBC64B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57652B-B656-4792-BB64-B9746B04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27151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DC61A-8FFD-40A5-95AE-5A1F92CA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C08C8-EEA1-49EC-80F7-08F8EA42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TECHNIQUE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C047D-DD21-4C85-AA44-EDFE25B6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LLM alignment methods add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8081-B2D7-42C8-A307-E573CC64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step gives the model a stronger learning signal, but also asks for more infrastructure.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2E458-85C8-4816-A362-E648589F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84D9D-A0EE-498D-B327-F14A6480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717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3E6C9-2C27-4446-89C3-1400FA98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 from 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33454-6FA3-4B73-AE23-505A0E8E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194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B3099-B2F8-4B3D-AF76-67954C4A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53FE0-590A-4A45-81AE-3B540580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19375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A8E23-295F-4D4D-8B7E-9091178D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717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DPO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09B64-6AE0-4D04-B6E2-0FC2F74A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956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 from preferences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9D87C-DF57-4387-A6D2-4737E674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194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C5AAB-68A4-45E8-B35C-F75D30E1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164AA-6E51-457B-8BE8-D6388204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ECE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AF534-1973-4173-A5A8-04B32425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717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PPO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6C120-8192-470C-AC0B-CCBB59D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956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 from rewards + value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B67EA-A1CC-462D-8FD6-264280DD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BBD6E-ECB1-4353-BF12-DC8DE393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951B9-4D19-456F-8E6A-0D451D87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19375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42376-C468-4063-8167-CF3215F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717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GRPO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9F674-D2BA-40E0-A687-D593C97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956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learn from group-relative rewards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63998-B257-4D7C-A6FC-A2FC7EE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48125"/>
            <a:ext cx="895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EFB3A-852C-43D2-A6B5-D0420556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more project-specific 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B6D4D4-48A1-43B8-8EFA-030A440D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77A"/>
                </a:solidFill>
                <a:latin typeface="Aptos"/>
                <a:ea typeface="Aptos"/>
                <a:cs typeface="Aptos"/>
              </a:rPr>
              <a:t>imitation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308CB-70E6-448E-BC54-4AE49DC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9906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F6822-E46B-47B6-8250-15DFC8BC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A0897B-1CDC-4657-8E95-6A066D97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GRPO in plain English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0BA845-59AA-46DF-9724-8FE66F46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62600"/>
            <a:ext cx="923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task can produce several trajectories. Ranking them creates a local comparison group. In practice: run the same OpenML task four ways, reinforce above-average rollouts, and discourage below-average rollouts. The group average acts like the baseline, so GRPO does not need a separate value model.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F8BF9-8302-423C-ACBF-70BFF85B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B6B6F-4E94-4761-B79F-32BCDEAD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05432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C324B-1E01-4709-A3A7-A8D280E5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898F1-53C3-43BB-989C-9E41E51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TRL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1EFA1-91A8-4DD1-9CC0-95CC90E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TRL gives us the trainer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2CB8E-FD6B-4F2D-B688-605A4B90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framework contains sibling trainers. Our project path uses GRPOTrainer-style training, while SFTTrainer remains the imitation-learning reference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A78E5-01B0-479B-BB6B-66683948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619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53D5C-2EB2-4981-9F95-F3ED8B7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CCE80-E13B-4CEC-8B7E-8CBD8ED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4276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REFERENCE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82103-B3E6-4827-8989-F7F0D17C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4276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SFTTrainer / QLoRA SFT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CAFAE-6909-4697-8354-08E34796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4276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Input: curated prompt-response pairs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Objective: imitate target answer tokens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Adapter: LoRA/QLoRA can make it memory efficient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Best for: teaching answer format and baseline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7CFE8-1C6A-4390-8A96-FEB7CDF1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4619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1D8AD-F5F7-4715-96E3-EAE15B03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A7DDA-370E-41AE-B160-474D6AD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085975"/>
            <a:ext cx="42767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9F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9F6E"/>
                </a:solidFill>
                <a:latin typeface="Aptos"/>
                <a:ea typeface="Aptos"/>
                <a:cs typeface="Aptos"/>
              </a:rPr>
              <a:t>CURRENT TRACK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EED9B-8061-4976-B261-BAD0DBC2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95525"/>
            <a:ext cx="4276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GRPOTrainer / TRL GRPO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68294-E86D-4CE3-8CD7-D406A9F2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95575"/>
            <a:ext cx="4276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Input: prompts plus grouped rollouts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Objective: increase high-advantage completions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Adapter: trained on trajectory reward signal</a:t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Best for: improving tool choice, sequence, guardrails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7D845-2CEB-4022-92C4-39A87088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052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64B0B-4D83-4E38-B36B-894CCE06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90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49483-538C-4390-A479-0CE8DEB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480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same library, different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BA21C-D04C-417D-8154-4134141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48300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C42B0-C086-4B8A-B27F-ACF67249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340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7702A-38E9-4AAF-883B-3AF3F3C8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340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SFT answers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CB17D-3AED-4473-A34F-BE8D45F8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340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GRPO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679B8-943A-4D07-8372-D1CF605B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3402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Our stance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A93A3-167D-4E79-903A-0C97DECB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72150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3DB9F-450F-4B7D-B11B-75D8FC6E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got better?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98D36-06DE-4EAE-89F8-9F013F82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8578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format imitation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B1C3D-0E14-4EF7-938C-FEEC2581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8578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decision quality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210D5-039D-40D8-AD72-FF6E7B92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578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show GRPO as default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272E59-9DD4-4243-A8A6-53E54B6F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EA764-90A2-4BA6-AEF9-DFC89D70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563625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974EF-99FE-4C9A-9EC3-403D1CA2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81600-885D-4E28-8ACA-7072F4CB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GRPO MECHANICS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6198E-3828-4949-8B90-E9E51F2C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Group rollouts turn one task into a lesson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EC762-EB3D-4688-B1F7-4BE32BF3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For a single task, the agent tries several trajectories. The group mean creates positive and negative advantages.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F21D6-A048-4E62-B7B0-13A2990B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907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Task: openml_31_german_credit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5F4E4-3A04-40F0-A2A5-4D842D26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87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626E4-C6BF-4B2B-8C5F-60D2E0D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traj_A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9D8CE-2343-4DC5-8370-5A36A7AF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24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01175-EAB1-4E7B-AA1E-9E3D858D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574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reward 0.92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6194F-4043-4C46-830B-F9B53073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55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DC8AC-9E9F-4E23-B23D-52D0CD10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adv 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56EA8-3E91-4E91-8CFC-847B62D2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3476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schema -&gt; GBM -&gt; MLflow -&gt; SHAP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FD7F2-2D0F-406D-9C72-10B98B6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87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BDAE9-15AE-4FBC-8D5A-F9D92F22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traj_B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79B1D-DC06-4C73-A1D2-DAA43E63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99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EC698-03C9-4894-B04E-6A121BBB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43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reward 0.75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C4C3D-13AD-4B43-8EBA-F503DDFC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55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8955A-0269-49D7-8FEB-AE074017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adv 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2AC78-09A5-4437-99F9-F1B387FD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14675"/>
            <a:ext cx="3476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good workflow, weaker explainability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C62B0-C5C8-4051-A464-2EA50F1D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87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54BB5-4AB1-4509-B6C8-7E7F60D0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traj_C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761F1-EFF8-472D-BB4F-2609584B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95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606D9-E2FA-4FBF-91B5-AF215AD1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29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reward 0.45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6382F-3C4D-4F4D-B607-C7BE5A72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55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3A9D40-CCFE-4C13-AE7B-6C80620B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adv 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339B5-80F7-4798-B28D-D6E1AEE6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00475"/>
            <a:ext cx="3476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missing MLflow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23D908-023E-4ECC-A79C-8718BF0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7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AA9E94-6815-47F2-B7EF-722DFB76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traj_D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D42A0-F6AE-4DE9-A93D-7962ADC9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8"/>
          </a:solidFill>
          <a:ln xmlns:a="http://schemas.openxmlformats.org/drawingml/2006/main" w="9525">
            <a:solidFill>
              <a:srgbClr val="FFE4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10FB8-74CA-4541-B292-6F7249B0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148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reward 0.05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B83337-EAB7-43F0-90FB-7882B65D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81500"/>
            <a:ext cx="55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67E537-1337-44DA-8101-2B969068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adv 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B31ECC-17DE-4C6C-847A-FFF7108E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3476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raw-row boundary issue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CF6401-9201-4DD0-8BEE-013FC39E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60ED9B-E1F6-49B1-BFFA-A96C0FF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GRPO update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F26495-B21E-4F40-B13F-02D58093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1857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77A"/>
                </a:solidFill>
                <a:latin typeface="Aptos"/>
                <a:ea typeface="Aptos"/>
                <a:cs typeface="Aptos"/>
              </a:rPr>
              <a:t>Increase probability of A/B behavior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677A"/>
                </a:solidFill>
                <a:latin typeface="Aptos"/>
                <a:ea typeface="Aptos"/>
                <a:cs typeface="Aptos"/>
              </a:rPr>
              <a:t>Decrease probability of C/D behavior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E436EC-FCFE-4B9B-911C-6A4C82B9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14700"/>
            <a:ext cx="447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EF8BDD-3C81-4679-8CD7-950A51D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FB5F38-C2D9-485A-A787-CE5045CA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18F0A1-4CCE-4C09-966A-938E0486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0542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relative reward = score - group mean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175603-05D8-4838-8DB2-74CFF3C8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DBBF4E-2CB4-4311-8E5B-EADB6E00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17091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6B081-F48D-4450-A8B1-DE4C99A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5F925-945C-4F12-BB77-6F22CE4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RULER / REWARD SCORING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2B99F-05C8-4418-AB1E-77ECF450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Rank trajectories into reward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F0886-6E2D-4681-B644-BCD845A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RULER can be a judge layer; the project also has hybrid reward components for deterministic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78916-5405-45D8-9BEA-4167AF7B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Reward breakdown: strong trajectory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CA95B-288C-4AC1-B631-49A3067A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61574-02E3-44CA-9E9B-CF98A869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92253-104B-4372-AE24-5336349A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C7C1D-F1EB-4774-9690-96CD6250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4DABF-57B4-4859-8C61-37946EBE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B720A-4224-4BD1-B53E-C7F41C20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381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BE290-0EA2-457C-86EF-7D1C9840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719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F675A-9C80-434B-B359-3E0CEEAF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9314F-E041-4048-BCEC-0ABE41AC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25E0D-7367-45FD-B0BE-9045564B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43200"/>
            <a:ext cx="381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41CA7-24E1-483A-A1A0-8F115E9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719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924CB-7B29-4CF4-AF75-CFA983BE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0.9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38642-B1D8-4560-9CFE-2D5673B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2D6CD-50C8-4731-BDF3-7320A75B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A95E9-6A66-47FA-81A8-70214C58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719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Tracking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19678-CBB8-49D7-AAE7-98CB3DA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9F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9F6E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E0B9D-E142-4CF3-B40B-4EF3612A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8E3ED-24C1-4E46-A649-C2AA6FFF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EC76D-3209-4243-91EE-9F3F8A8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719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Tool 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983BE-A108-4847-A6DF-516A0B5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27A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27A7A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AF360-9491-4F2E-A039-E9F722B4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81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11260-CC06-432B-8652-70DED6A8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381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11999-C295-4BE6-861F-217C619D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719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Violation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CE139-28EE-49F1-86DE-0BD5A5B2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DEC2F-F8A9-4227-8B65-9EB5ACF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4953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88C6B-CDD7-43CB-B82E-8369C4D6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E6EBF0-6651-4A9C-845B-55779C7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461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1: traj_A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F6B73E-4322-4C3A-9CEA-416417BA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05075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Correct classifier, safe MCP use, strong metrics, MLflow logging, SHAP artifacts.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EA095-F3CB-4EA4-AFA7-4D6D1B4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4953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81DD5-9196-4705-ADCB-8B4A0885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7182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4E4B59-9478-4D52-A0E9-BB60C16D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43275"/>
            <a:ext cx="461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3: traj_C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FA0CA3-CE0A-4DE3-809C-27EF53E6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24275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Partial workflow, missing MLflow, incomplete artifact manifest.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7EEC57-FADE-48A6-AC9C-5239EAD7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91025"/>
            <a:ext cx="4953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428CD0-CD74-49B3-9FE8-D1C07A36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91025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8F86DE-1D20-4F4B-969B-9CDB59F9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62475"/>
            <a:ext cx="461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Rank 4: traj_D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8D0670-B9BA-490E-A5D3-AE5543F9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43475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Raw-row boundary violation or failed execution. Negative signal for future policy updates.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9EF2FD-8B89-4E36-8505-95FFE897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E1E270-5256-44E3-867A-33CC6AD5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09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4833DF-CA31-4E07-8EBF-5494C849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670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533274-561F-4C13-BD6E-6A447F6C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4DC775-6188-414B-B571-0AC1F8BB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81276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E807C-1702-497F-AE38-F1023188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F1D83-EFAD-4A03-BDEC-AD5918E7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AGENT LIGHTNING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5A109-8CB6-40C5-BC61-794503E5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Decouple agent execution from RL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8B957-B1BD-4F19-A9C0-C0EE2F25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agent can keep its normal workflow while the Lightning layer collects transitions and rewards for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6A0F5-DDB7-4FF0-A676-8C57D43C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8909D-DF20-49AF-B7A0-EE9E0190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7CAD-08A9-4BFE-A6D2-A725F30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90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26876-841F-4BFD-9C3F-32A6F6EE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Lightning 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7537A-BED5-4BA9-B2E4-31E246A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ECE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BB49F-F910-44DB-9AE4-8E3F8129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Trainer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325CE-BCB1-453F-A5B8-2B522471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746BA-8B1E-4DAD-8671-42B1B692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002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rollout()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63188-0DF5-48E8-A615-5BFF74A4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57450"/>
            <a:ext cx="1543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normal agent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551BC-5520-44CB-AE31-E77C46F6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90267-EABB-4E2B-92FE-616E048A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002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tool + LLM spans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EA7C6-63A1-48CB-BD54-982482E9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57450"/>
            <a:ext cx="1828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trace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C2FD8-EF60-4AFA-A4DA-1336048B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BDC06-7611-4A60-A87E-59668FDB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6290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state,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F652F-FB56-440C-93AA-085543BE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886200"/>
            <a:ext cx="1733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transition tuples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73721-B49C-4CA8-9794-BEA05CEF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1DDF5-D243-4A90-B222-732156F2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290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C5387-0BE7-4298-B27D-366A71C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86200"/>
            <a:ext cx="1733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hybrid / RULER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A8B4F-8AF7-4B60-A335-16D52CD6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242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B8DE5-28C3-4E8E-B881-17572298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290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grouped rollouts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8A94E1-4D81-4891-AC2F-141A765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86200"/>
            <a:ext cx="1733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task_id batches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4B1EF-F651-4658-B48D-E583C8F6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95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436833-ABC0-4E5D-A6FF-AF3B51D9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006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TRL GRPO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0C385-4E77-4D42-B4DD-F466564B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57825"/>
            <a:ext cx="1924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train adapter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73CCD-F5E1-426F-8621-4AC8BFE8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17D745-66BC-4B02-B9B6-D2D838C0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006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vLLM redeploy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78EB56-5FD6-4C99-97BA-EAE7A8C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57825"/>
            <a:ext cx="1924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serve tuned 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4B868-8813-4CEA-84CF-EAC1736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526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F42D93-34E9-4880-996C-7E9EC121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383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4857EB-DB3E-4457-8984-78B7E96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95A079-D171-4824-AD32-A476AC37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68391A-BC9C-44CC-A0CF-F7620BA3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81425"/>
            <a:ext cx="733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D09820-5954-4EA0-8515-9F7CABC5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67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DAE630-63B6-4AA0-B5C1-26D0D556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81425"/>
            <a:ext cx="733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A34B77-5619-40C1-A575-1641840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67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B6982-4B15-4C71-AC0E-E6D5D1E0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3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BBC925-D323-4960-81BC-2E933E78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86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BC2479-B506-4B9B-A574-3A69EC8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57700"/>
            <a:ext cx="3590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D865FC-CD62-4CC0-8AF7-0337E61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6D1EE9-175E-457A-A3C9-98217FB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76750"/>
            <a:ext cx="38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B9A631-40F8-44FD-BC14-B878C51B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053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04BAD5-284C-41D2-B312-59D56619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2447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F8E2FE-D2AC-4B43-A977-1053AAAB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101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335CAE-9C43-4298-AB53-4CD95E9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3948B3-AD88-4191-9241-BB1828D1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92135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1EB937-766B-46F6-A005-826C6BF9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DA366-73B6-4FF5-A0C3-19FBFF35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MCP + POSTGRESQL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6E58C-7392-4D04-B56C-AC5F5B44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tool layer controls what the agent is allowed to see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ECB5F-47D6-4591-A1AF-8D0C29BB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Project MCP exposes safe metadata operations; raw rows stay outside ordinary LLM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BE0FE-7D20-4736-BBB1-7F5D0A4D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94F84-2967-4408-B9BC-269C70C4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 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360AA-A8A9-4DFD-9C2A-EBA841FB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924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What is task openml_44?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B289F-77C8-48B9-9D91-37EA4ABD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907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33E52-BAD7-4043-9CB1-4544F6AD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9552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MCP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8F258-9B68-429A-AF67-09168AA4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52700"/>
            <a:ext cx="2209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postgres_get_task_metadata</a:t>
            </a:r>
          </a:p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postgres_get_dataset_schema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6062D-BE45-4161-85BD-2B575594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E7F0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A022C-0EC2-440D-B798-4676BED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95525"/>
            <a:ext cx="1971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AD7E9-BDFF-4D55-B657-0260D7B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52700"/>
            <a:ext cx="1971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registry + schema + summaries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2397F-5FC8-440D-8FA9-BE6AF82D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500D2-C9B0-4482-811F-3430F773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20052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Safe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AB623-8349-42D3-B3F0-105BBA31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57700"/>
            <a:ext cx="2209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schema, stats, artifact manifest, reward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DF053-6C16-4013-BAA5-8086AC56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2238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DE991-D969-448A-8431-7832E46A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00525"/>
            <a:ext cx="1971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Execution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21250-3F66-4D8B-94BB-CD620AEC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57700"/>
            <a:ext cx="1971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sandbox code may read data under guardrails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1AC92-8237-4E28-A06A-2203CAD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6BFEF-8B53-4B4D-8374-009BC1D0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95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DFCA2-8786-43B2-9C74-292F5985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9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D6109-D2A0-44B2-A2F0-C780588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95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1BDE7-121E-4741-AAC1-CF8D03A1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65FC6-EE99-43C8-A59B-CA1C1E5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05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C8F58D-240F-4D1B-80C2-BF0D78A7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515B0-7602-4F09-8E44-18D94807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BB07E0-C141-463B-AC8A-A1F6FD0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90750"/>
            <a:ext cx="1162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8"/>
          </a:solidFill>
          <a:ln xmlns:a="http://schemas.openxmlformats.org/drawingml/2006/main" w="9525">
            <a:solidFill>
              <a:srgbClr val="FFE4E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35a42a84f40c9">
            <a:extLst>
              <a:ext uri="{96DAC541-7B7A-43D3-8B79-37D633B846F1}">
                <asvg:svgBlip xmlns:asvg="http://schemas.microsoft.com/office/drawing/2016/SVG/main" r:embed="R6c9021c951f142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29800" y="24765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F2D393-6128-420E-800A-9136250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781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No raw rows in ordinary LLM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A9C40-7C3A-45E5-AB2F-EECEDD0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2D4D6-3EF2-493C-A795-4A4BB53B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065630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B688D6-60BC-46E9-B40D-49287C60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F7A2C-2AD2-4302-89AF-939A43A3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LANGGRAPH-STYLE MULTI-AGENT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12CB4-07E4-47CF-AE0C-B14D7DB7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Each specialist contributes a different kind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5EBDA-4427-4A95-9F23-F95FD0F6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audience should see the roles as skill stations, not just code modules.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9BC82-0FB4-48B2-978C-A3DF2FAA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D4F4D-6804-40B1-8D61-FFA80A6A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19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5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6084A-09CF-4C05-BBD4-F9905642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B714B-BDAD-4EF8-BDD1-48F89599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routes task and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7B3E2-C30F-44A2-BEB3-7187F794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DF784-3481-4F8D-9935-691B8DCA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19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5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9B81D-413B-42AA-9150-21F910B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81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 Engineer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1F621-03A0-4F47-B6A0-9EB9EE9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schema, splits, leakage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4119E-9D96-4E32-B392-19A8EB9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622C4-DE7D-4857-A8DE-5401196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5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FB0E9-1F10-44A4-98C9-21B9A5F1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GBM Specialist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70638-61FC-46C3-8D30-9C8303B9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benchmark plan + model 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6D0B8-BF26-4E36-9DE5-42F665E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9075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3C6D4-CAB1-4860-9E06-87D095B5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5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AE071-80FA-491D-90B9-9F81B75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81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Critic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2B8F4-0583-4EB1-9D8C-08A3C090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guardrails + artifact review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76f769be546a0">
            <a:extLst>
              <a:ext uri="{96DAC541-7B7A-43D3-8B79-37D633B846F1}">
                <asvg:svgBlip xmlns:asvg="http://schemas.microsoft.com/office/drawing/2016/SVG/main" r:embed="R7406d83d0e4b40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14525" y="25622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a18e8d8cb4d91">
            <a:extLst>
              <a:ext uri="{96DAC541-7B7A-43D3-8B79-37D633B846F1}">
                <asvg:svgBlip xmlns:asvg="http://schemas.microsoft.com/office/drawing/2016/SVG/main" r:embed="R42ff47bdd0df44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67225" y="25622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f8d8045354aef">
            <a:extLst>
              <a:ext uri="{96DAC541-7B7A-43D3-8B79-37D633B846F1}">
                <asvg:svgBlip xmlns:asvg="http://schemas.microsoft.com/office/drawing/2016/SVG/main" r:embed="Rd894d69e1e9c43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19925" y="2562225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6267960be4538">
            <a:extLst>
              <a:ext uri="{96DAC541-7B7A-43D3-8B79-37D633B846F1}">
                <asvg:svgBlip xmlns:asvg="http://schemas.microsoft.com/office/drawing/2016/SVG/main" r:embed="Re3012d3af4b043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72625" y="25622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698BC-5D15-469A-93D5-63122D43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7657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BF58B-C0A5-4EA1-9A85-02ED0EF3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C47F0-7F6D-4526-AFEC-8B6E4B0F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7657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7EFAE-4088-4610-91A5-A6F0FDEB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DBCFF1-0A5C-4517-A655-D81B4307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7657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4AAE44-5701-4A50-B20D-9F619CDC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622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00B04-651F-47BC-8CD2-D15E4F6F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0"/>
            <a:ext cx="8648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D7257A-49C3-4B51-A0CA-18C12C56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A1CD3-DCA1-41AE-B67E-3F461197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720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RL skill exercise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5F9140-1CD6-459F-9032-497E5C33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5305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Reward does not only grade final accuracy. It also grades whether the agent used the right specialist at the right time and left reproducible evidence.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61F7F9-34DF-480B-966A-CE6FC923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048302-A05A-4846-ADA8-13F5BFA8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70642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CE069-ECF8-4618-8C54-6C270C3D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196D6-A364-4244-9F7A-2B250D64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OPENML + TRACK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62CE3-2F00-4916-B590-DCFB0D88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Track A is the practice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DD66D-F24A-43A8-8962-66AA9777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Before training a policy, the project needs tasks, evidence, and a repeatable scoreboard.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02EF5-9D04-42EA-B37C-590D0156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62D3D-36E3-4394-89D8-BF5A3760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openml_31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A1C58-3D5F-483B-A3E8-DB3E448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German credit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0720C-77BF-4FCE-9816-9D35C6D4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reward 0.843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CC0FC-8791-4DF7-976E-F14C8C3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1F7C9-C0E8-4CB2-9469-947223C7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71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openml_44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C32EF-380D-468F-99AB-2104F7F8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57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Spambase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4E8BD-5501-40DA-B333-A3D9D10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reward 0.9085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C1064-C276-4228-8BAA-8DCB37AE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E3789-F38F-4ECC-9D1F-84840C22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openml_1461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C09D0-C07F-4E8A-B1DA-228AE158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Bank marketing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0A088-50DA-464E-9674-C827019A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reward 0.8776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26F7F-8FB0-40C3-BC41-B8B399EE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A9EF3-04E0-4A9D-A1E8-7C3BD61B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openml_1489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D52E7-83A7-42DA-9711-0464B4F3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Phoneme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48075-AD8C-4573-9F8A-D34E7F55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reward 0.7710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5B77D-C419-4795-80FF-F713EA31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435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F7845-DAA6-4483-82A5-DDCE7647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10D9F-4C56-4177-9AD9-29CE05FE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578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21E9F-9E28-415F-B934-0E719105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43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C02A7F-8B10-4523-B755-D073CBF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435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0429A7-408B-484B-8EAF-A5156F25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911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55898-17AF-49E3-A0AF-23038B6A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578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8210C-F9D4-46AD-A18F-F896142A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0179D5-894E-480A-9646-58CCD80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435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6AB7E6-678C-4453-9997-55172249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911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Track artifacts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6EF8B-165B-46C2-AAF9-1B2904CA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578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7777E-52F0-49DF-AB3B-278F17F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43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95A831-BDEC-4B06-9D62-8C75C557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435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33290A-A877-4C28-B5A8-0AEC588D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911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Score rollout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BE339D-8C6C-47F6-9EC4-AA9A2374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F10A8D-3436-4C3E-9AF0-C649CD34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809942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6CAB7-92BC-4E24-B53C-7A9B0402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821ED-6E95-44C0-869F-5578F81E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TRACK B TRL GRPO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9858D-5DF0-4D72-9997-67254B5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training handoff is compact but meaningful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B82F9-7E79-45A7-8699-DFD16CBC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Grouped rollout data becomes a policy adapter, then vLLM serves the tuned endpoint.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1A9F8-39C5-4D61-A4AA-F142CA6A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A01F0-E861-4D97-8D8B-70D98100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Prompt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1843B-BBEF-479F-A0DA-BE2CDB45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733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task instructions + safe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F2657-4712-409C-8CA7-6C36EA56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479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FF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43B0A-FBE9-4B30-8DC1-807429CE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3526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Grouped rollouts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97652-EBB7-4497-BBF8-D3B5AB0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09850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4 task groups</a:t>
            </a:r>
          </a:p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20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B78A3-6C04-4835-9773-365BEEDF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ECE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B5EFA-5917-4352-AE15-0D034CC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526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TRL GRPOTrainer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F9F66-04DE-4F41-96DA-F342C3F7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1828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relative advantages</a:t>
            </a:r>
          </a:p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hybrid reward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18324-D8EA-42AA-85B9-4AF297D6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479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FF4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02ABB-C189-4E07-9D90-69B5A696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5267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LoRA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2C56C-4628-46E2-A323-F5E59F5B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09850"/>
            <a:ext cx="1733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trained</a:t>
            </a:r>
          </a:p>
          <a:p xmlns:a="http://schemas.openxmlformats.org/drawingml/2006/main">
            <a:pPr algn="l">
              <a:defRPr sz="938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fallback_used=false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7C042-46CE-446A-A261-E2EAE2C9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2EADD-6414-4A75-B77E-E78FB376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62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55CE3-F4AE-4AD6-ACD0-6A2B8FB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76525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34270-BBFA-42BB-ACD0-974C550B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CD5E5-B481-4699-AD33-3DAC67FF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76525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55A5A-D950-4898-82CF-C983906A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62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C2CD0-5C41-4CBB-BC50-553A5888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AB0DDF-3872-478F-B1BD-F90009A5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87BE1-46CB-41D8-8AB7-95243ED0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GRPO tries to improve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0261A-E099-417D-AE8F-5BD65C95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Tool choice, workflow ordering, guardrail avoidance, MLflow completeness, SHAP/explainability decisions, and final task reward.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5CED37-5815-4023-80C3-6A849FF0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5E017-AD32-42BC-95E5-45688E00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F2CFA-4218-4BEF-803D-EA1A3C97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71950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the demo should not overclaim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7988D-EB97-4420-BCF6-F2EEB71C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52950"/>
            <a:ext cx="384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Current benchmark shows infrastructure success and no regression, not a measured reward lift yet.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633AEE-E6F9-4678-820D-15A94BE7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73AD62-C2D0-4FB9-9ECF-A752ECD8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42085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9E39EB-F33B-46A2-B939-32222858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62A32-50FB-47FE-BCAB-5E58B2B8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READING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AD5E8-4C76-43DB-ADF2-F1A49066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Training metrics are not enough for agentic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AC8CD-1A85-43A5-B27C-D7BBD0F9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good demo separates trainer health from redeployed policy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F4109-6C68-4780-885A-34AABFA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D1E25-F2AC-41A9-A955-DB710D6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7B403-6128-48BA-9229-4A01DFDB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initial trajectories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59EE1-3009-401C-BCBD-C77F17CC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Track A no-LLM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B38D3-24A8-4F73-8563-AB1B4B55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D8A18-CB81-498D-A3AD-66DDD608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907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D31EF-E4E3-4402-A070-6BB86171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33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grouped rollout groups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10642-1DAB-4918-9098-0AC6908F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051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group per OpenML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6BAF9-0287-4091-8965-CF9A021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4D79F-3D71-46DB-9E28-5E69E268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trained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F3D7A-84B6-4EC2-852E-592F0466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adapter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66A4C-30A5-4905-9859-02B443D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trainer=trl_grpo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E5645-7607-4AFE-869B-0AA3B97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478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1067C-7400-412C-A644-8BA9BF41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907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7800D-2547-45EF-8D8F-F0F065E0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336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fallback used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8A65E-5BBE-4117-B001-A6B5C169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051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real Track B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D6F97-EE9B-4580-ACB2-11510890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CE16E-E940-40A3-AE12-B22FC777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2427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2EB83-5D77-4A1F-93CF-7C68A0D4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242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A4412F-6FD3-4E42-BD8B-C0944B2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242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reward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EB84A-D5F2-4F81-A73C-817ABBA9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242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49312-4534-445A-8C67-BE87FF39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24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endpoint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24375-DA1E-4F57-B6F2-0CB6B836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19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E63E4-9B95-48F1-B62D-FC223FAC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0527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initial_no_llm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AF079-BA1A-404A-99CB-006D4DD0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A98F51-1BB3-4EC9-A6FD-D9E3FCF9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052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0.85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C8588-03CC-4B34-9E42-5113B55C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CAA4EE-7D38-48C1-A0A8-D6EFE301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05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F4228-E726-4965-A1BB-096271AC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DCF319-AC6B-40F6-8D35-F34AEF2E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8627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baseline_llm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E37DC1-908E-4C30-936F-5257D511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19BC30-DD21-4BDF-BEA4-BAE920F5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862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0.85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691A32-8610-455B-8230-7DA3A984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862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E75881-95C7-4A15-AE3C-ECCD5723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86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2D3083-C844-4739-B931-0B81333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81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9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EE35D4-8D73-40D3-9482-ACBA1047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6727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trackb_redeploy_llm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3F3786-BE86-4B1C-B6CD-3F13138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672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A896D6-CBA1-40E6-927B-430BB889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672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0.85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1E56ED-55D2-4C1D-8A04-685108B3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C002BF-6060-4044-818A-12128F1D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67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847B1D-9C0A-4164-90D7-B8CAF4DF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86926F-EC65-4D51-9F34-8FC79B2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1CD028-2392-4797-8B9F-861B5C4C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19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Honest interpretation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366FCA-8656-4BB9-BB42-AB8A7D7F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6265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run proves the GRPO infrastructure and redeploy loop. The next benchmark should target larger reward spread and held-out tasks to show policy lift.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90222D-0A5D-4F3B-855D-1D12DA92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D37C56-C209-4ECA-B7E2-EA038477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380862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3C59F-3519-45E3-BA35-AE63D46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8A079-D6CF-4AAF-8066-C1294D5E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STREAMLIT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8F0AF-67B8-4D40-8DFA-4820BB94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Show the live dashboard as the final proof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8889C-5FFA-4E00-8F1D-B87F832B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Use this slide in presentation mode when you transition from concepts to the running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A0D1B-BF1F-47D5-9D02-79A5E10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619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3864e18bb4878"/>
          <a:srcRect xmlns:a="http://schemas.openxmlformats.org/drawingml/2006/main" l="0" t="14551" r="0" b="14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885950"/>
            <a:ext cx="4238625" cy="3295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28B5B-5536-4187-8B56-F4550ECF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95450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3d205c2e34ed9"/>
          <a:srcRect xmlns:a="http://schemas.openxmlformats.org/drawingml/2006/main" l="0" t="19605" r="0" b="19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838325"/>
            <a:ext cx="2286000" cy="1524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96C62-6CE7-4EA8-B288-3830DCE5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7665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9e89cbbf845bc"/>
          <a:srcRect xmlns:a="http://schemas.openxmlformats.org/drawingml/2006/main" l="0" t="21505" r="0" b="215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3810000"/>
            <a:ext cx="2286000" cy="1428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36E40-8BF6-42FA-87AF-3AD4EF23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3067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B813F-5301-42C5-B291-D277973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571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E3FFE-CE4E-49EF-9773-1B933630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Talk 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55376-1659-4881-BA93-EE4E4202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2724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1. Sidebar shows service health: Lightning, vLLM, MLflow.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2. Track B is configured as TRL GRPO, not SFT.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3. Results view compares initial, baseline live, and Track B redeploy.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4. Evidence screenshots are checked into the repo so a fresh checkout can render the same dashboard views.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8DEF2-93DE-40FF-9DE4-CB95999F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769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39A43-2533-437E-81B7-5BC674DD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 evidence: docs/evidence/streamlit/*.jpg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F75AD-B578-4D1B-A856-58114FC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9929E"/>
                </a:solidFill>
                <a:latin typeface="Aptos"/>
                <a:ea typeface="Aptos"/>
                <a:cs typeface="Aptos"/>
              </a:rPr>
              <a:t>Agentic ML RL concepts -&gt; TRL GRPO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1C0E9-0EF5-41A3-9898-B823408F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9929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9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52868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2026-06-08T02:13:39.0510000Z</dcterms:created>
  <dcterms:modified xsi:type="dcterms:W3CDTF">2026-06-08T02:13:39.0510000Z</dcterms:modified>
</coreProperties>
</file>